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Nyutro Sans" panose="020B0604020202020204" charset="0"/>
      <p:regular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Sego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V="1">
            <a:off x="-328064" y="537727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96309" y="7677681"/>
            <a:ext cx="16230600" cy="4037362"/>
          </a:xfrm>
          <a:custGeom>
            <a:avLst/>
            <a:gdLst/>
            <a:ahLst/>
            <a:cxnLst/>
            <a:rect l="l" t="t" r="r" b="b"/>
            <a:pathLst>
              <a:path w="16230600" h="4037362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69592" y="-227049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2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2" y="5120628"/>
                </a:lnTo>
                <a:lnTo>
                  <a:pt x="426292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144000" y="8488512"/>
            <a:ext cx="10941040" cy="5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6"/>
              </a:lnSpc>
            </a:pPr>
            <a:r>
              <a:rPr lang="en-US" sz="2961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BY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51744" y="2288062"/>
            <a:ext cx="14149309" cy="4485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9"/>
              </a:lnSpc>
            </a:pPr>
            <a:endParaRPr sz="4000" dirty="0"/>
          </a:p>
          <a:p>
            <a:pPr algn="ctr">
              <a:lnSpc>
                <a:spcPct val="100000"/>
              </a:lnSpc>
            </a:pPr>
            <a:r>
              <a:rPr lang="en-IN" sz="4000" b="1" dirty="0"/>
              <a:t>College Club Event Recommendation &amp; Timetable Planner</a:t>
            </a:r>
            <a:r>
              <a:rPr lang="en-US" sz="6314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r</a:t>
            </a:r>
          </a:p>
          <a:p>
            <a:pPr algn="ctr">
              <a:lnSpc>
                <a:spcPts val="24796"/>
              </a:lnSpc>
            </a:pPr>
            <a:endParaRPr lang="en-US" sz="6314" dirty="0">
              <a:solidFill>
                <a:srgbClr val="161B1C"/>
              </a:solidFill>
              <a:latin typeface="Sego"/>
              <a:ea typeface="Sego"/>
              <a:cs typeface="Sego"/>
              <a:sym typeface="Seg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99883" y="188606"/>
            <a:ext cx="4288234" cy="546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5"/>
              </a:lnSpc>
            </a:pPr>
            <a:r>
              <a:rPr lang="en-US" sz="3246">
                <a:solidFill>
                  <a:srgbClr val="161B1C"/>
                </a:solidFill>
                <a:latin typeface="DM Sans"/>
                <a:ea typeface="DM Sans"/>
                <a:cs typeface="DM Sans"/>
                <a:sym typeface="DM Sans"/>
              </a:rPr>
              <a:t>Foundation of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54531" y="9003828"/>
            <a:ext cx="14149309" cy="76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</a:pPr>
            <a:r>
              <a:rPr lang="en-IN" sz="2400" b="1" dirty="0" err="1"/>
              <a:t>Bharath.J</a:t>
            </a:r>
            <a:endParaRPr lang="en-US" sz="2214" dirty="0">
              <a:solidFill>
                <a:srgbClr val="161B1C"/>
              </a:solidFill>
              <a:latin typeface="Sego"/>
              <a:ea typeface="Sego"/>
              <a:cs typeface="Sego"/>
              <a:sym typeface="Sego"/>
            </a:endParaRPr>
          </a:p>
          <a:p>
            <a:pPr algn="just">
              <a:lnSpc>
                <a:spcPts val="3099"/>
              </a:lnSpc>
              <a:spcBef>
                <a:spcPct val="0"/>
              </a:spcBef>
            </a:pPr>
            <a:r>
              <a:rPr lang="en-US" sz="2214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                                                                                             </a:t>
            </a:r>
            <a:r>
              <a:rPr lang="en-IN" sz="2000" b="1" dirty="0" err="1"/>
              <a:t>Akash.M</a:t>
            </a:r>
            <a:endParaRPr lang="en-US" sz="2214" dirty="0">
              <a:solidFill>
                <a:srgbClr val="161B1C"/>
              </a:solidFill>
              <a:latin typeface="Sego"/>
              <a:ea typeface="Sego"/>
              <a:cs typeface="Sego"/>
              <a:sym typeface="Seg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6273" y="277845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02959" y="3556514"/>
            <a:ext cx="14686086" cy="4658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200" dirty="0"/>
              <a:t>The </a:t>
            </a:r>
            <a:r>
              <a:rPr lang="en-IN" sz="3200" b="1" dirty="0"/>
              <a:t>College Club Event Recommendation &amp; Timetable Planner</a:t>
            </a:r>
            <a:r>
              <a:rPr lang="en-IN" sz="3200" dirty="0"/>
              <a:t> is a rule-based system that helps students find suitable college club events based on their interests, eligibility, and availability.</a:t>
            </a:r>
          </a:p>
          <a:p>
            <a:r>
              <a:rPr lang="en-IN" sz="3200" dirty="0"/>
              <a:t>The system uses </a:t>
            </a:r>
            <a:r>
              <a:rPr lang="en-IN" sz="3200" b="1" dirty="0"/>
              <a:t>deterministic rules, search techniques, and constraint satisfaction</a:t>
            </a:r>
            <a:r>
              <a:rPr lang="en-IN" sz="3200" dirty="0"/>
              <a:t> to recommend events and generate a conflict-free timetable.</a:t>
            </a:r>
          </a:p>
          <a:p>
            <a:r>
              <a:rPr lang="en-IN" sz="3200" dirty="0"/>
              <a:t>Unlike machine-learning systems, the proposed system does </a:t>
            </a:r>
            <a:r>
              <a:rPr lang="en-IN" sz="3200" b="1" dirty="0"/>
              <a:t>not use Machine Learning</a:t>
            </a:r>
            <a:r>
              <a:rPr lang="en-IN" sz="3200" dirty="0"/>
              <a:t>. The recommendations are generated using predefined rules and logical reasoning.</a:t>
            </a:r>
          </a:p>
          <a:p>
            <a:br>
              <a:rPr lang="en-IN" dirty="0"/>
            </a:br>
            <a:endParaRPr dirty="0"/>
          </a:p>
          <a:p>
            <a:pPr algn="just">
              <a:lnSpc>
                <a:spcPts val="5586"/>
              </a:lnSpc>
            </a:pPr>
            <a:endParaRPr lang="en-US" sz="3699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39196" y="1720299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6860" y="41307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47260" y="3110949"/>
            <a:ext cx="13315559" cy="110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30"/>
              </a:lnSpc>
            </a:pPr>
            <a:endParaRPr dirty="0"/>
          </a:p>
          <a:p>
            <a:pPr algn="just">
              <a:lnSpc>
                <a:spcPts val="4530"/>
              </a:lnSpc>
            </a:pPr>
            <a:endParaRPr lang="en-US" sz="3000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539196" y="1720299"/>
            <a:ext cx="10775612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Problem Statement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BC9874-D139-20E5-C2C1-87E078FB9FCB}"/>
              </a:ext>
            </a:extLst>
          </p:cNvPr>
          <p:cNvSpPr txBox="1"/>
          <p:nvPr/>
        </p:nvSpPr>
        <p:spPr>
          <a:xfrm>
            <a:off x="2406967" y="3865919"/>
            <a:ext cx="1428916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The </a:t>
            </a: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College Club Event Recommendation &amp; Timetable Planner</a:t>
            </a: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 is a rule-based system that helps students find suitable college club events based on their interests, eligibility, and availability.</a:t>
            </a:r>
          </a:p>
          <a:p>
            <a:pPr indent="0" algn="l">
              <a:buNone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The system uses </a:t>
            </a: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deterministic rules, search techniques, and constraint satisfaction</a:t>
            </a: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 to recommend events and generate a conflict-free timetable.</a:t>
            </a:r>
          </a:p>
          <a:p>
            <a:pPr indent="0" algn="l">
              <a:buNone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Unlike machine-learning systems, the proposed system does </a:t>
            </a: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not use Machine Learning</a:t>
            </a: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. The recommendations are generated using predefined rules and logical reasoning.</a:t>
            </a:r>
          </a:p>
          <a:p>
            <a:pPr>
              <a:buNone/>
            </a:pPr>
            <a:br>
              <a:rPr lang="en-IN" sz="3200" dirty="0"/>
            </a:br>
            <a:endParaRPr lang="en-IN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884039"/>
            <a:ext cx="16230600" cy="8467045"/>
            <a:chOff x="0" y="-38100"/>
            <a:chExt cx="4274726" cy="2230004"/>
          </a:xfrm>
        </p:grpSpPr>
        <p:sp>
          <p:nvSpPr>
            <p:cNvPr id="8" name="Freeform 8"/>
            <p:cNvSpPr/>
            <p:nvPr/>
          </p:nvSpPr>
          <p:spPr>
            <a:xfrm>
              <a:off x="0" y="24437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669687" y="1121483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Literature Survey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E64533-DCD2-91A0-83A2-B41618B6B794}"/>
              </a:ext>
            </a:extLst>
          </p:cNvPr>
          <p:cNvSpPr txBox="1"/>
          <p:nvPr/>
        </p:nvSpPr>
        <p:spPr>
          <a:xfrm>
            <a:off x="2747715" y="3339763"/>
            <a:ext cx="131064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You can keep this slide similar to your friend's </a:t>
            </a: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Literature Survey</a:t>
            </a: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 slide.</a:t>
            </a:r>
          </a:p>
          <a:p>
            <a:pPr indent="0" algn="l">
              <a:buNone/>
            </a:pP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Existing approaches generally focus on:</a:t>
            </a:r>
            <a:endParaRPr lang="en-IN" sz="32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Basic event listing and registration</a:t>
            </a: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Manual selection of college activities</a:t>
            </a: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Separate timetable management</a:t>
            </a: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Simple event filtering</a:t>
            </a:r>
          </a:p>
          <a:p>
            <a:pPr indent="0" algn="l">
              <a:buNone/>
            </a:pP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Limitations:</a:t>
            </a:r>
            <a:endParaRPr lang="en-IN" sz="32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Limited personalized recommendation</a:t>
            </a: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No integrated timetable planning</a:t>
            </a: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Manual conflict detection</a:t>
            </a: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No rule-based reasoning for event selection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540748" y="2855955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66436" y="2828474"/>
            <a:ext cx="14330265" cy="5667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600" b="1" dirty="0"/>
              <a:t>Existing systems have limited support for combining:</a:t>
            </a:r>
            <a:endParaRPr lang="en-IN" sz="3600" dirty="0"/>
          </a:p>
          <a:p>
            <a:pPr lvl="0"/>
            <a:r>
              <a:rPr lang="en-IN" sz="3600" dirty="0"/>
              <a:t>Student interest-based event recommendation</a:t>
            </a:r>
          </a:p>
          <a:p>
            <a:pPr lvl="0"/>
            <a:r>
              <a:rPr lang="en-IN" sz="3600" dirty="0"/>
              <a:t>Eligibility checking</a:t>
            </a:r>
          </a:p>
          <a:p>
            <a:pPr lvl="0"/>
            <a:r>
              <a:rPr lang="en-IN" sz="3600" dirty="0"/>
              <a:t>Availability checking</a:t>
            </a:r>
          </a:p>
          <a:p>
            <a:pPr lvl="0"/>
            <a:r>
              <a:rPr lang="en-IN" sz="3600" dirty="0"/>
              <a:t>Timetable generation</a:t>
            </a:r>
          </a:p>
          <a:p>
            <a:pPr lvl="0"/>
            <a:r>
              <a:rPr lang="en-IN" sz="3600" dirty="0"/>
              <a:t>Conflict detection</a:t>
            </a:r>
          </a:p>
          <a:p>
            <a:pPr lvl="0"/>
            <a:r>
              <a:rPr lang="en-IN" sz="3600" dirty="0"/>
              <a:t>Automatic conflict resolution</a:t>
            </a:r>
          </a:p>
          <a:p>
            <a:r>
              <a:rPr lang="en-IN" sz="3600" dirty="0"/>
              <a:t>Therefore, there is a need for a </a:t>
            </a:r>
            <a:r>
              <a:rPr lang="en-IN" sz="3600" b="1" dirty="0"/>
              <a:t>single deterministic AI-based system</a:t>
            </a:r>
            <a:r>
              <a:rPr lang="en-IN" sz="3600" dirty="0"/>
              <a:t> that combines recommendation and timetable planning.</a:t>
            </a:r>
          </a:p>
          <a:p>
            <a:pPr algn="just">
              <a:lnSpc>
                <a:spcPts val="4752"/>
              </a:lnSpc>
            </a:pPr>
            <a:endParaRPr lang="en-US" sz="3147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669687" y="817005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Research Gap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23" y="-2287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123" y="228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16713" y="2558097"/>
            <a:ext cx="14901885" cy="5034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81"/>
              </a:lnSpc>
            </a:pPr>
            <a:endParaRPr dirty="0"/>
          </a:p>
          <a:p>
            <a:r>
              <a:rPr lang="en-IN" sz="3200" dirty="0"/>
              <a:t>The main objectives are:</a:t>
            </a:r>
          </a:p>
          <a:p>
            <a:pPr lvl="0"/>
            <a:r>
              <a:rPr lang="en-IN" sz="3200" dirty="0"/>
              <a:t>To recommend suitable college club events based on student preferences.</a:t>
            </a:r>
          </a:p>
          <a:p>
            <a:pPr lvl="0"/>
            <a:r>
              <a:rPr lang="en-IN" sz="3200" dirty="0"/>
              <a:t>To check student eligibility for events.</a:t>
            </a:r>
          </a:p>
          <a:p>
            <a:pPr lvl="0"/>
            <a:r>
              <a:rPr lang="en-IN" sz="3200" dirty="0"/>
              <a:t>To consider student availability while selecting events.</a:t>
            </a:r>
          </a:p>
          <a:p>
            <a:pPr lvl="0"/>
            <a:r>
              <a:rPr lang="en-IN" sz="3200" dirty="0"/>
              <a:t>To detect overlapping event timings.</a:t>
            </a:r>
          </a:p>
          <a:p>
            <a:pPr lvl="0"/>
            <a:r>
              <a:rPr lang="en-IN" sz="3200" dirty="0"/>
              <a:t>To use </a:t>
            </a:r>
            <a:r>
              <a:rPr lang="en-IN" sz="3200" b="1" dirty="0"/>
              <a:t>CSP and Backtracking</a:t>
            </a:r>
            <a:r>
              <a:rPr lang="en-IN" sz="3200" dirty="0"/>
              <a:t> for timetable planning.</a:t>
            </a:r>
          </a:p>
          <a:p>
            <a:pPr lvl="0"/>
            <a:r>
              <a:rPr lang="en-IN" sz="3200" dirty="0"/>
              <a:t>To provide a conflict-free timetable using deterministic rules.</a:t>
            </a:r>
          </a:p>
          <a:p>
            <a:br>
              <a:rPr lang="en-IN" sz="3200" dirty="0"/>
            </a:br>
            <a:endParaRPr lang="en-US" sz="3200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625761" y="857250"/>
            <a:ext cx="11427950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Reasearch objective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1868" y="15436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99404" y="171450"/>
            <a:ext cx="12080403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Architecture Diagram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640AC4-5A3D-B78F-5223-E8F730AD2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2876258"/>
            <a:ext cx="11177877" cy="63058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400" y="15436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r>
              <a:rPr lang="en-US" dirty="0"/>
              <a:t>                                                                            </a:t>
            </a:r>
          </a:p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2400" y="3687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62200" y="647700"/>
            <a:ext cx="9809547" cy="12691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Tech Stack  </a:t>
            </a:r>
          </a:p>
          <a:p>
            <a:r>
              <a:rPr lang="en-IN" sz="3200" b="1" dirty="0"/>
              <a:t>                         Frontend</a:t>
            </a:r>
          </a:p>
          <a:p>
            <a:pPr lvl="0"/>
            <a:r>
              <a:rPr lang="en-IN" sz="3200" dirty="0"/>
              <a:t>     HTML</a:t>
            </a:r>
          </a:p>
          <a:p>
            <a:pPr lvl="0"/>
            <a:r>
              <a:rPr lang="en-IN" sz="3200" dirty="0"/>
              <a:t>     CSS</a:t>
            </a:r>
          </a:p>
          <a:p>
            <a:pPr lvl="0"/>
            <a:r>
              <a:rPr lang="en-IN" sz="3200" dirty="0"/>
              <a:t>     JavaScript</a:t>
            </a:r>
          </a:p>
          <a:p>
            <a:r>
              <a:rPr lang="en-IN" sz="3200" b="1" dirty="0"/>
              <a:t>     Backend</a:t>
            </a:r>
          </a:p>
          <a:p>
            <a:pPr lvl="0"/>
            <a:r>
              <a:rPr lang="en-IN" sz="3200" dirty="0"/>
              <a:t>     Python</a:t>
            </a:r>
          </a:p>
          <a:p>
            <a:r>
              <a:rPr lang="en-IN" sz="3200" dirty="0"/>
              <a:t>      Flask                                        </a:t>
            </a:r>
          </a:p>
          <a:p>
            <a:endParaRPr lang="en-IN" sz="3200" dirty="0"/>
          </a:p>
          <a:p>
            <a:r>
              <a:rPr lang="en-IN" sz="3200" dirty="0"/>
              <a:t>                              </a:t>
            </a:r>
            <a:r>
              <a:rPr lang="en-IN" sz="3200" b="1" dirty="0"/>
              <a:t>Database</a:t>
            </a:r>
          </a:p>
          <a:p>
            <a:pPr lvl="0"/>
            <a:r>
              <a:rPr lang="en-IN" sz="2400" dirty="0"/>
              <a:t>         SQLite </a:t>
            </a:r>
          </a:p>
          <a:p>
            <a:pPr lvl="0"/>
            <a:r>
              <a:rPr lang="en-IN" sz="2400" b="1" dirty="0"/>
              <a:t>         AI Module</a:t>
            </a:r>
          </a:p>
          <a:p>
            <a:pPr lvl="0"/>
            <a:r>
              <a:rPr lang="en-IN" sz="2400" b="1" dirty="0"/>
              <a:t>         </a:t>
            </a:r>
            <a:r>
              <a:rPr lang="en-IN" sz="2400" dirty="0"/>
              <a:t>Python Rule Engine</a:t>
            </a:r>
          </a:p>
          <a:p>
            <a:pPr lvl="0"/>
            <a:r>
              <a:rPr lang="en-IN" sz="2400" dirty="0"/>
              <a:t>         A* Search</a:t>
            </a:r>
          </a:p>
          <a:p>
            <a:pPr lvl="0"/>
            <a:r>
              <a:rPr lang="en-IN" sz="2400" dirty="0"/>
              <a:t>         CSP</a:t>
            </a:r>
          </a:p>
          <a:p>
            <a:pPr lvl="0"/>
            <a:r>
              <a:rPr lang="en-IN" sz="2400" dirty="0"/>
              <a:t>         Backtracking</a:t>
            </a:r>
          </a:p>
          <a:p>
            <a:r>
              <a:rPr lang="en-IN" sz="2400" b="1" dirty="0"/>
              <a:t>         Development Tools</a:t>
            </a:r>
          </a:p>
          <a:p>
            <a:pPr lvl="0"/>
            <a:r>
              <a:rPr lang="en-IN" sz="2400" dirty="0"/>
              <a:t>         VS Code</a:t>
            </a:r>
          </a:p>
          <a:p>
            <a:pPr lvl="0"/>
            <a:r>
              <a:rPr lang="en-IN" sz="2400" dirty="0"/>
              <a:t>          GitHub</a:t>
            </a:r>
          </a:p>
          <a:p>
            <a:pPr lvl="0"/>
            <a:r>
              <a:rPr lang="en-IN" sz="3200" dirty="0"/>
              <a:t>          </a:t>
            </a:r>
          </a:p>
          <a:p>
            <a:pPr algn="ctr">
              <a:lnSpc>
                <a:spcPts val="12599"/>
              </a:lnSpc>
            </a:pPr>
            <a:endParaRPr lang="en-US" sz="9000" dirty="0">
              <a:solidFill>
                <a:srgbClr val="161B1C"/>
              </a:solidFill>
              <a:latin typeface="Sego"/>
              <a:ea typeface="Sego"/>
              <a:cs typeface="Sego"/>
              <a:sym typeface="Sego"/>
            </a:endParaRPr>
          </a:p>
          <a:p>
            <a:pPr algn="ctr">
              <a:lnSpc>
                <a:spcPts val="12599"/>
              </a:lnSpc>
            </a:pPr>
            <a:endParaRPr lang="en-US" sz="9000" dirty="0">
              <a:solidFill>
                <a:srgbClr val="161B1C"/>
              </a:solidFill>
              <a:latin typeface="Sego"/>
              <a:ea typeface="Sego"/>
              <a:cs typeface="Sego"/>
              <a:sym typeface="Seg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533801" y="6242228"/>
            <a:ext cx="5922169" cy="53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endParaRPr lang="en-US" sz="3200" dirty="0">
              <a:solidFill>
                <a:srgbClr val="161B1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1491" y="3318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47444" y="5606117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-465842" y="228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540750" y="2855955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046740" y="5281709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19312" y="1727123"/>
            <a:ext cx="10805197" cy="8115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 1. Start</a:t>
            </a:r>
          </a:p>
          <a:p>
            <a:pPr>
              <a:lnSpc>
                <a:spcPts val="4881"/>
              </a:lnSpc>
            </a:pPr>
            <a:endParaRPr lang="en-US" sz="3232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2. Get student preferences</a:t>
            </a:r>
          </a:p>
          <a:p>
            <a:pPr>
              <a:lnSpc>
                <a:spcPts val="4881"/>
              </a:lnSpc>
            </a:pPr>
            <a:endParaRPr lang="en-US" sz="3232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3. Get available club events</a:t>
            </a:r>
          </a:p>
          <a:p>
            <a:pPr>
              <a:lnSpc>
                <a:spcPts val="4881"/>
              </a:lnSpc>
            </a:pPr>
            <a:endParaRPr lang="en-US" sz="3232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4. Apply eligibility rules</a:t>
            </a:r>
          </a:p>
          <a:p>
            <a:pPr>
              <a:lnSpc>
                <a:spcPts val="4881"/>
              </a:lnSpc>
            </a:pPr>
            <a:endParaRPr lang="en-US" sz="3232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5. Apply interest-based rules</a:t>
            </a:r>
          </a:p>
          <a:p>
            <a:pPr>
              <a:lnSpc>
                <a:spcPts val="4881"/>
              </a:lnSpc>
            </a:pPr>
            <a:endParaRPr lang="en-US" sz="3232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6. Check student availability</a:t>
            </a:r>
          </a:p>
          <a:p>
            <a:pPr>
              <a:lnSpc>
                <a:spcPts val="4881"/>
              </a:lnSpc>
            </a:pPr>
            <a:endParaRPr lang="en-US" sz="3232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7. Generate possible event schedules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45178" y="171450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Algorithm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539196" y="399943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Output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1050156" y="1885843"/>
            <a:ext cx="9209608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161B1C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</a:t>
            </a:r>
            <a:r>
              <a:rPr lang="en-IN" sz="2800" b="1" dirty="0"/>
              <a:t>Recommended Events</a:t>
            </a:r>
          </a:p>
          <a:p>
            <a:br>
              <a:rPr lang="en-IN" sz="3200" dirty="0"/>
            </a:br>
            <a:endParaRPr lang="en-US" sz="3200" dirty="0">
              <a:solidFill>
                <a:srgbClr val="161B1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5BC4E95-3FEE-5E71-0C8E-535E7C363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989598"/>
              </p:ext>
            </p:extLst>
          </p:nvPr>
        </p:nvGraphicFramePr>
        <p:xfrm>
          <a:off x="2469534" y="3008958"/>
          <a:ext cx="10591800" cy="356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7950">
                  <a:extLst>
                    <a:ext uri="{9D8B030D-6E8A-4147-A177-3AD203B41FA5}">
                      <a16:colId xmlns:a16="http://schemas.microsoft.com/office/drawing/2014/main" val="555290760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985306887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3273013897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1835390298"/>
                    </a:ext>
                  </a:extLst>
                </a:gridCol>
              </a:tblGrid>
              <a:tr h="89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947878"/>
                  </a:ext>
                </a:extLst>
              </a:tr>
              <a:tr h="89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Workshop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Club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10–11 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7408398"/>
                  </a:ext>
                </a:extLst>
              </a:tr>
              <a:tr h="89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Coding Contest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Coding Club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11–12 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200038"/>
                  </a:ext>
                </a:extLst>
              </a:tr>
              <a:tr h="89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Football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Sports Club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2–3 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7732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964038" y="2500743"/>
            <a:ext cx="7923831" cy="3382485"/>
          </a:xfrm>
          <a:custGeom>
            <a:avLst/>
            <a:gdLst/>
            <a:ahLst/>
            <a:cxnLst/>
            <a:rect l="l" t="t" r="r" b="b"/>
            <a:pathLst>
              <a:path w="7923831" h="3382485">
                <a:moveTo>
                  <a:pt x="0" y="0"/>
                </a:moveTo>
                <a:lnTo>
                  <a:pt x="7923831" y="0"/>
                </a:lnTo>
                <a:lnTo>
                  <a:pt x="7923831" y="3382486"/>
                </a:lnTo>
                <a:lnTo>
                  <a:pt x="0" y="33824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964038" y="6223187"/>
            <a:ext cx="7923831" cy="3390870"/>
          </a:xfrm>
          <a:custGeom>
            <a:avLst/>
            <a:gdLst/>
            <a:ahLst/>
            <a:cxnLst/>
            <a:rect l="l" t="t" r="r" b="b"/>
            <a:pathLst>
              <a:path w="7923831" h="3390870">
                <a:moveTo>
                  <a:pt x="0" y="0"/>
                </a:moveTo>
                <a:lnTo>
                  <a:pt x="7923831" y="0"/>
                </a:lnTo>
                <a:lnTo>
                  <a:pt x="7923831" y="3390870"/>
                </a:lnTo>
                <a:lnTo>
                  <a:pt x="0" y="33908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409" b="-140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539196" y="399943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Output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64038" y="1630573"/>
            <a:ext cx="1518999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  <a:spcBef>
                <a:spcPct val="0"/>
              </a:spcBef>
            </a:pPr>
            <a:r>
              <a:rPr lang="en-US" sz="315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Students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28064" y="537727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08719" y="7786423"/>
            <a:ext cx="16230600" cy="4037362"/>
          </a:xfrm>
          <a:custGeom>
            <a:avLst/>
            <a:gdLst/>
            <a:ahLst/>
            <a:cxnLst/>
            <a:rect l="l" t="t" r="r" b="b"/>
            <a:pathLst>
              <a:path w="16230600" h="4037362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2905706" y="-1561569"/>
            <a:ext cx="16230600" cy="4037362"/>
          </a:xfrm>
          <a:custGeom>
            <a:avLst/>
            <a:gdLst/>
            <a:ahLst/>
            <a:cxnLst/>
            <a:rect l="l" t="t" r="r" b="b"/>
            <a:pathLst>
              <a:path w="16230600" h="4037362">
                <a:moveTo>
                  <a:pt x="0" y="0"/>
                </a:moveTo>
                <a:lnTo>
                  <a:pt x="16230600" y="0"/>
                </a:lnTo>
                <a:lnTo>
                  <a:pt x="16230600" y="4037361"/>
                </a:lnTo>
                <a:lnTo>
                  <a:pt x="0" y="403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260813" y="-8452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069346" y="3453911"/>
            <a:ext cx="14149309" cy="3036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96"/>
              </a:lnSpc>
            </a:pPr>
            <a:r>
              <a:rPr lang="en-US" sz="17711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449</Words>
  <Application>Microsoft Office PowerPoint</Application>
  <PresentationFormat>Custom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Open Sans</vt:lpstr>
      <vt:lpstr>Nyutro Sans</vt:lpstr>
      <vt:lpstr>Arial</vt:lpstr>
      <vt:lpstr>Sego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omput</dc:title>
  <dc:creator>Bharath J</dc:creator>
  <cp:lastModifiedBy>Bharath J</cp:lastModifiedBy>
  <cp:revision>2</cp:revision>
  <dcterms:created xsi:type="dcterms:W3CDTF">2006-08-16T00:00:00Z</dcterms:created>
  <dcterms:modified xsi:type="dcterms:W3CDTF">2026-09-23T16:11:54Z</dcterms:modified>
  <dc:identifier>DAHVMQ5Sc4o</dc:identifier>
</cp:coreProperties>
</file>